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0F172A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3600" b="1">
                <a:solidFill>
                  <a:srgbClr val="FFFFFF"/>
                </a:solidFill>
                <a:latin typeface="Arial"/>
              </a:rPr>
              <a:t>FitReserve API</a:t>
            </a:r>
            <a:endParaRPr lang="es-ES" sz="36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Backend de reservas de clases de gimnasio</a:t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Spring Boot ? MySQL ? JPA ? JWT</a:t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/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Juan Garcia</a:t>
            </a:r>
            <a:endParaRPr lang="es-ES" sz="210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CBD5E1"/>
                </a:solidFill>
                <a:latin typeface="Arial"/>
              </a:rPr>
              <a:t>FitReserve API ? Proyecto final ? 1/10</a:t>
            </a:r>
            <a:endParaRPr lang="es-E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Sobre mi</a:t>
            </a:r>
            <a:endParaRPr lang="es-ES" sz="280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Me interesa el desarrollo backend.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Queria practicar una API REST real.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Elegi un gimnasio porque tiene usuarios, clases, salas, reservas y seguridad.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2/10</a:t>
            </a:r>
            <a:endParaRPr lang="es-E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Reservar clases necesita orden y control</a:t>
            </a:r>
            <a:endParaRPr lang="es-ES" sz="280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Los socios necesitan consultar clases disponibles.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El gimnasio necesita controlar salas y capacidad.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Los administradores necesitan gestionar clases y reservas.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El sistema evita reservas duplicadas y clases llenas.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3/10</a:t>
            </a:r>
            <a:endParaRPr lang="es-E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FitReserve conecta usuarios, salas, clases y reservas</a:t>
            </a:r>
            <a:endParaRPr lang="es-ES" sz="280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Registro e inicio de sesion.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Roles: ADMIN, TRAINER y MEMBER.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CRUD de salas y clases.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Reservas y cancelaciones.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Pantalla web local para probar la API.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4/10</a:t>
            </a:r>
            <a:endParaRPr lang="es-E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Diagrama UML actualizado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1750" b="0">
                <a:solidFill>
                  <a:srgbClr val="334155"/>
                </a:solidFill>
                <a:latin typeface="Arial"/>
              </a:rPr>
              <a:t>Modelo principal del proyecto actual</a:t>
            </a:r>
            <a:endParaRPr lang="es-ES" sz="1750"/>
          </a:p>
        </p:txBody>
      </p:sp>
      <p:sp>
        <p:nvSpPr>
          <p:cNvPr id="10" name="Box 10"/>
          <p:cNvSpPr/>
          <p:nvPr/>
        </p:nvSpPr>
        <p:spPr>
          <a:xfrm>
            <a:off x="444500" y="2667000"/>
            <a:ext cx="1333500" cy="1016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Usuario</a:t>
            </a:r>
          </a:p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Rol</a:t>
            </a:r>
          </a:p>
        </p:txBody>
      </p:sp>
      <p:sp>
        <p:nvSpPr>
          <p:cNvPr id="11" name="Box 11"/>
          <p:cNvSpPr/>
          <p:nvPr/>
        </p:nvSpPr>
        <p:spPr>
          <a:xfrm>
            <a:off x="2794000" y="2667000"/>
            <a:ext cx="1524000" cy="10160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Reserva</a:t>
            </a:r>
          </a:p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EstadoReserva</a:t>
            </a:r>
          </a:p>
        </p:txBody>
      </p:sp>
      <p:sp>
        <p:nvSpPr>
          <p:cNvPr id="12" name="Box 12"/>
          <p:cNvSpPr/>
          <p:nvPr/>
        </p:nvSpPr>
        <p:spPr>
          <a:xfrm>
            <a:off x="7112000" y="2667000"/>
            <a:ext cx="1333500" cy="10160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F97316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Sala</a:t>
            </a:r>
          </a:p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capacidad</a:t>
            </a:r>
          </a:p>
        </p:txBody>
      </p:sp>
      <p:sp>
        <p:nvSpPr>
          <p:cNvPr id="13" name="Box 13"/>
          <p:cNvSpPr/>
          <p:nvPr/>
        </p:nvSpPr>
        <p:spPr>
          <a:xfrm>
            <a:off x="3302000" y="4191000"/>
            <a:ext cx="2413000" cy="1270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ClaseGimnasio</a:t>
            </a:r>
          </a:p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&lt;&lt;abstract&gt;&gt;</a:t>
            </a:r>
          </a:p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NivelIntensidad</a:t>
            </a:r>
          </a:p>
        </p:txBody>
      </p:sp>
      <p:sp>
        <p:nvSpPr>
          <p:cNvPr id="14" name="Box 14"/>
          <p:cNvSpPr/>
          <p:nvPr/>
        </p:nvSpPr>
        <p:spPr>
          <a:xfrm>
            <a:off x="1079500" y="5905500"/>
            <a:ext cx="1397000" cy="5715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ClaseCardio</a:t>
            </a:r>
          </a:p>
        </p:txBody>
      </p:sp>
      <p:sp>
        <p:nvSpPr>
          <p:cNvPr id="15" name="Box 15"/>
          <p:cNvSpPr/>
          <p:nvPr/>
        </p:nvSpPr>
        <p:spPr>
          <a:xfrm>
            <a:off x="3873500" y="5905500"/>
            <a:ext cx="1397000" cy="5715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ClaseFuerza</a:t>
            </a:r>
          </a:p>
        </p:txBody>
      </p:sp>
      <p:sp>
        <p:nvSpPr>
          <p:cNvPr id="16" name="Box 16"/>
          <p:cNvSpPr/>
          <p:nvPr/>
        </p:nvSpPr>
        <p:spPr>
          <a:xfrm>
            <a:off x="6604000" y="5905500"/>
            <a:ext cx="1778000" cy="5715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txBody>
          <a:bodyPr wrap="square" anchor="mid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Arial"/>
              </a:rPr>
              <a:t>ClaseMenteCuerpo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1778000" y="3175000"/>
            <a:ext cx="1016000" cy="127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4254500" y="3683000"/>
            <a:ext cx="12700" cy="5080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2" name="Connector 22"/>
          <p:cNvCxnSpPr/>
          <p:nvPr/>
        </p:nvCxnSpPr>
        <p:spPr>
          <a:xfrm flipV="1">
            <a:off x="5715000" y="3175000"/>
            <a:ext cx="1397000" cy="16510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3" name="Connector 23"/>
          <p:cNvCxnSpPr/>
          <p:nvPr/>
        </p:nvCxnSpPr>
        <p:spPr>
          <a:xfrm>
            <a:off x="1333500" y="3683000"/>
            <a:ext cx="1968500" cy="11430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4" name="Connector 24"/>
          <p:cNvCxnSpPr/>
          <p:nvPr/>
        </p:nvCxnSpPr>
        <p:spPr>
          <a:xfrm flipH="1">
            <a:off x="1778000" y="5461000"/>
            <a:ext cx="2667000" cy="4445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5" name="Connector 25"/>
          <p:cNvCxnSpPr/>
          <p:nvPr/>
        </p:nvCxnSpPr>
        <p:spPr>
          <a:xfrm>
            <a:off x="4508500" y="5461000"/>
            <a:ext cx="63500" cy="4445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cxnSp>
        <p:nvCxnSpPr>
          <p:cNvPr id="26" name="Connector 26"/>
          <p:cNvCxnSpPr/>
          <p:nvPr/>
        </p:nvCxnSpPr>
        <p:spPr>
          <a:xfrm>
            <a:off x="5016500" y="5461000"/>
            <a:ext cx="2476500" cy="444500"/>
          </a:xfrm>
          <a:prstGeom prst="line">
            <a:avLst/>
          </a:prstGeom>
          <a:ln w="15240">
            <a:solidFill>
              <a:srgbClr val="334155"/>
            </a:solidFill>
          </a:ln>
        </p:spPr>
      </p:cxnSp>
      <p:sp>
        <p:nvSpPr>
          <p:cNvPr id="27" name="TextBox 27"/>
          <p:cNvSpPr txBox="1"/>
          <p:nvPr/>
        </p:nvSpPr>
        <p:spPr>
          <a:xfrm>
            <a:off x="5905500" y="4064000"/>
            <a:ext cx="2921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100" b="0">
                <a:solidFill>
                  <a:srgbClr val="475569"/>
                </a:solidFill>
                <a:latin typeface="Arial"/>
              </a:rPr>
              <a:t>1 a N reservas</a:t>
            </a:r>
            <a:endParaRPr lang="es-ES" sz="1100"/>
          </a:p>
          <a:p>
            <a:pPr marL="342900" indent="-171450">
              <a:buChar char="?"/>
            </a:pPr>
            <a:r>
              <a:rPr lang="es-ES" sz="1100" b="0">
                <a:solidFill>
                  <a:srgbClr val="475569"/>
                </a:solidFill>
                <a:latin typeface="Arial"/>
              </a:rPr>
              <a:t>1 sala contiene N clases</a:t>
            </a:r>
            <a:endParaRPr lang="es-ES" sz="1100"/>
          </a:p>
          <a:p>
            <a:pPr marL="342900" indent="-171450">
              <a:buChar char="?"/>
            </a:pPr>
            <a:r>
              <a:rPr lang="es-ES" sz="1100" b="0">
                <a:solidFill>
                  <a:srgbClr val="475569"/>
                </a:solidFill>
                <a:latin typeface="Arial"/>
              </a:rPr>
              <a:t>JOINED: Cardio, Fuerza y MenteCuerpo heredan de ClaseGimnasio</a:t>
            </a:r>
            <a:endParaRPr lang="es-ES" sz="110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5/10</a:t>
            </a:r>
            <a:endParaRPr lang="es-E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Arquitectura tecnica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1750" b="0">
                <a:solidFill>
                  <a:srgbClr val="334155"/>
                </a:solidFill>
                <a:latin typeface="Arial"/>
              </a:rPr>
              <a:t>Spring Boot organiza la aplicacion por capas</a:t>
            </a:r>
            <a:endParaRPr lang="es-ES" sz="175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Controllers reciben peticiones HTTP.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DTOs validan y transportan datos.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Services contienen la logica de negocio.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Repositories acceden a MySQL con Spring Data JPA.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Security gestiona JWT y roles.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6/10</a:t>
            </a:r>
            <a:endParaRPr lang="es-E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Seguridad y roles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1750" b="0">
                <a:solidFill>
                  <a:srgbClr val="334155"/>
                </a:solidFill>
                <a:latin typeface="Arial"/>
              </a:rPr>
              <a:t>JWT protege las rutas segun el tipo de usuario</a:t>
            </a:r>
            <a:endParaRPr lang="es-ES" sz="175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Las rutas publicas permiten registro, login y consulta.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ADMIN puede crear, editar y borrar salas y clases.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MEMBER puede reservar y cancelar sus reservas.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El token Bearer identifica al usuario en cada peticion.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7/10</a:t>
            </a:r>
            <a:endParaRPr lang="es-E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Reto tecnico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1750" b="0">
                <a:solidFill>
                  <a:srgbClr val="334155"/>
                </a:solidFill>
                <a:latin typeface="Arial"/>
              </a:rPr>
              <a:t>Combinar JPA, DTOs y seguridad</a:t>
            </a:r>
            <a:endParaRPr lang="es-ES" sz="175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Evitar errores al devolver entidades con relaciones lazy.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Proteger correctamente rutas por rol.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Devolver respuestas limpias con DTOs.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Mantener las reglas de negocio en los servicios.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8/10</a:t>
            </a:r>
            <a:endParaRPr lang="es-E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F8FAFC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0F172A"/>
                </a:solidFill>
                <a:latin typeface="Arial"/>
              </a:rPr>
              <a:t>Error y aprendizaje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1750" b="0">
                <a:solidFill>
                  <a:srgbClr val="334155"/>
                </a:solidFill>
                <a:latin typeface="Arial"/>
              </a:rPr>
              <a:t>Preparar un proyecto para entrega real</a:t>
            </a:r>
            <a:endParaRPr lang="es-ES" sz="1750"/>
          </a:p>
        </p:txBody>
      </p:sp>
      <p:sp>
        <p:nvSpPr>
          <p:cNvPr id="4" name="TextBox 4"/>
          <p:cNvSpPr txBox="1"/>
          <p:nvPr/>
        </p:nvSpPr>
        <p:spPr>
          <a:xfrm>
            <a:off x="889000" y="2032000"/>
            <a:ext cx="76200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No subir contrasenas reales a GitHub.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Dejar TU_PASSWORD para que cada persona ponga su contrasena.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Probar rutas desde navegador y ejemplos HTTP.</a:t>
            </a:r>
            <a:endParaRPr lang="es-ES" sz="1750"/>
          </a:p>
          <a:p>
            <a:pPr marL="342900" indent="-171450">
              <a:buChar char="?"/>
            </a:pPr>
            <a:r>
              <a:rPr lang="es-ES" sz="1750" b="0">
                <a:solidFill>
                  <a:srgbClr val="1E293B"/>
                </a:solidFill>
                <a:latin typeface="Arial"/>
              </a:rPr>
              <a:t>Documentar diagramas, rutas y configuracion.</a:t>
            </a:r>
            <a:endParaRPr lang="es-ES" sz="175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64748B"/>
                </a:solidFill>
                <a:latin typeface="Arial"/>
              </a:rPr>
              <a:t>FitReserve API ? Proyecto final ? 9/10</a:t>
            </a:r>
            <a:endParaRPr lang="es-E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bg>
        <p:bgPr>
          <a:solidFill>
            <a:srgbClr val="0F172A"/>
          </a:solidFill>
          <a:effectLst/>
        </p:bgPr>
      </p:bg>
      <p:sp>
        <p:nvSpPr>
          <p:cNvPr id="2" name="TextBox 2"/>
          <p:cNvSpPr txBox="1"/>
          <p:nvPr/>
        </p:nvSpPr>
        <p:spPr>
          <a:xfrm>
            <a:off x="444500" y="317500"/>
            <a:ext cx="8255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800" b="1">
                <a:solidFill>
                  <a:srgbClr val="FFFFFF"/>
                </a:solidFill>
                <a:latin typeface="Arial"/>
              </a:rPr>
              <a:t>DEMO</a:t>
            </a:r>
            <a:endParaRPr lang="es-ES" sz="2800"/>
          </a:p>
        </p:txBody>
      </p:sp>
      <p:sp>
        <p:nvSpPr>
          <p:cNvPr id="3" name="TextBox 3"/>
          <p:cNvSpPr txBox="1"/>
          <p:nvPr/>
        </p:nvSpPr>
        <p:spPr>
          <a:xfrm>
            <a:off x="571500" y="1270000"/>
            <a:ext cx="8128000" cy="146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Aplicacion local: http://localhost:8080/</a:t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GitHub: https://github.com/juangarcia15525/FitReserve</a:t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Diagrama UML: docs/diagrama-uml-nuevo.md</a:t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/>
            </a:r>
            <a:endParaRPr lang="es-ES" sz="2100"/>
          </a:p>
          <a:p>
            <a:pPr/>
            <a:r>
              <a:rPr lang="es-ES" sz="2100" b="0">
                <a:solidFill>
                  <a:srgbClr val="DBEAFE"/>
                </a:solidFill>
                <a:latin typeface="Arial"/>
              </a:rPr>
              <a:t>Gracias</a:t>
            </a:r>
            <a:endParaRPr lang="es-ES" sz="2100"/>
          </a:p>
        </p:txBody>
      </p:sp>
      <p:sp>
        <p:nvSpPr>
          <p:cNvPr id="90" name="TextBox 90"/>
          <p:cNvSpPr txBox="1"/>
          <p:nvPr/>
        </p:nvSpPr>
        <p:spPr>
          <a:xfrm>
            <a:off x="444500" y="6604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s-ES" sz="950" b="0">
                <a:solidFill>
                  <a:srgbClr val="CBD5E1"/>
                </a:solidFill>
                <a:latin typeface="Arial"/>
              </a:rPr>
              <a:t>FitReserve API ? Proyecto final ? 10/10</a:t>
            </a:r>
            <a:endParaRPr lang="es-E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Reserve">
  <a:themeElements>
    <a:clrScheme name="FitReserv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16A34A"/>
      </a:accent2>
      <a:accent3>
        <a:srgbClr val="F97316"/>
      </a:accent3>
      <a:accent4>
        <a:srgbClr val="7C3AED"/>
      </a:accent4>
      <a:accent5>
        <a:srgbClr val="64748B"/>
      </a:accent5>
      <a:accent6>
        <a:srgbClr val="DBEAFE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FitReserv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FitReserve API - Presentacion final</dc:title>
  <dc:creator>Juan Garcia</dc:creator>
  <cp:lastModifiedBy>Codex</cp:lastModifiedBy>
  <dcterms:created xsi:type="dcterms:W3CDTF">2026-06-12T22:17:25Z</dcterms:created>
  <dcterms:modified xsi:type="dcterms:W3CDTF">2026-06-12T22:17:25Z</dcterms:modified>
</cp:coreProperties>
</file>